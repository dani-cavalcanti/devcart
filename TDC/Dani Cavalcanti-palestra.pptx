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8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164"/>
    <p:restoredTop sz="94659"/>
  </p:normalViewPr>
  <p:slideViewPr>
    <p:cSldViewPr snapToGrid="0" snapToObjects="1">
      <p:cViewPr varScale="1">
        <p:scale>
          <a:sx n="110" d="100"/>
          <a:sy n="110" d="100"/>
        </p:scale>
        <p:origin x="816" y="18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927394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9/22/26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1.pn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3" Type="http://schemas.openxmlformats.org/officeDocument/2006/relationships/image" Target="../media/image2.jpg"/><Relationship Id="rId4" Type="http://schemas.openxmlformats.org/officeDocument/2006/relationships/image" Target="../media/image3.png"/><Relationship Id="rId5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1463040"/>
            <a:ext cx="10515600" cy="45720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800"/>
              </a:spcAft>
            </a:pPr>
            <a:r>
              <a:rPr sz="1500" b="1" i="0">
                <a:solidFill>
                  <a:srgbClr val="5EEAD4"/>
                </a:solidFill>
                <a:latin typeface="Arial"/>
              </a:rPr>
              <a:t>ENGENHARIA DE QUALIDADE · SDET</a:t>
            </a:r>
          </a:p>
          <a:p>
            <a:pPr algn="l">
              <a:spcAft>
                <a:spcPts val="1800"/>
              </a:spcAft>
            </a:pPr>
            <a:r>
              <a:rPr sz="4000" b="1" i="0">
                <a:solidFill>
                  <a:srgbClr val="F1F1EF"/>
                </a:solidFill>
                <a:latin typeface="Arial"/>
              </a:rPr>
              <a:t>Barreiras de Qualidade Avançadas em CI/CD acelerado por IA</a:t>
            </a:r>
          </a:p>
          <a:p>
            <a:pPr algn="l">
              <a:spcAft>
                <a:spcPts val="1000"/>
              </a:spcAft>
            </a:pPr>
            <a:r>
              <a:rPr sz="2000" b="0" i="0">
                <a:solidFill>
                  <a:srgbClr val="9AA2AD"/>
                </a:solidFill>
                <a:latin typeface="Arial"/>
              </a:rPr>
              <a:t>Mutação · Property-Based · Contrato — gates que medem eficácia, não execução.</a:t>
            </a:r>
          </a:p>
          <a:p>
            <a:pPr algn="l">
              <a:spcAft>
                <a:spcPts val="0"/>
              </a:spcAft>
            </a:pPr>
            <a:r>
              <a:rPr sz="1500" b="0" i="0">
                <a:solidFill>
                  <a:srgbClr val="9AA2AD"/>
                </a:solidFill>
                <a:latin typeface="Arial"/>
              </a:rPr>
              <a:t>DevCart · microsserviços Spring Boot · demonstração ao vivo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493776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O que a IA generativa mudou — e o que não mudou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515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•  ↑ Velocidade de escrita de código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•  ↑ Cobertura de testes (Line / Branch) — o teste vem no mesmo commit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•  → Taxa de defeito que escapa para produção: não se move sozinha</a:t>
            </a:r>
          </a:p>
          <a:p>
            <a:pPr algn="l">
              <a:spcAft>
                <a:spcPts val="1200"/>
              </a:spcAft>
            </a:pPr>
            <a:r>
              <a:rPr sz="2600" b="1" i="0">
                <a:solidFill>
                  <a:srgbClr val="F1F1EF"/>
                </a:solidFill>
                <a:latin typeface="Arial"/>
              </a:rPr>
              <a:t>A cobertura subiu. A qualidade não necessariamente. A métrica descolou do resultado.</a:t>
            </a:r>
          </a:p>
        </p:txBody>
      </p:sp>
      <p:pic>
        <p:nvPicPr>
          <p:cNvPr id="6" name="Picture 1" descr="logo.png">
            <a:extLst>
              <a:ext uri="{FF2B5EF4-FFF2-40B4-BE49-F238E27FC236}">
                <a16:creationId xmlns:a16="http://schemas.microsoft.com/office/drawing/2014/main" id="{331D8818-5ED5-A093-43FF-2B0FAC51050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493776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O “falso positivo”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515600" cy="1846659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 i="0" dirty="0">
                <a:solidFill>
                  <a:srgbClr val="F1F1EF"/>
                </a:solidFill>
                <a:latin typeface="Arial"/>
              </a:rPr>
              <a:t>Pull Request </a:t>
            </a:r>
            <a:r>
              <a:rPr sz="2100" b="1" i="0" dirty="0" err="1">
                <a:solidFill>
                  <a:srgbClr val="00B050"/>
                </a:solidFill>
                <a:latin typeface="Arial"/>
              </a:rPr>
              <a:t>verde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·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cobertura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100 % · SonarQube 0 bugs, quality gate passed.</a:t>
            </a:r>
          </a:p>
          <a:p>
            <a:pPr algn="l">
              <a:spcAft>
                <a:spcPts val="1200"/>
              </a:spcAft>
            </a:pPr>
            <a:r>
              <a:rPr sz="2100" b="0" i="0" dirty="0">
                <a:solidFill>
                  <a:srgbClr val="F1F1EF"/>
                </a:solidFill>
                <a:latin typeface="Arial"/>
              </a:rPr>
              <a:t>… e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mesmo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assim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: bug de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lógica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e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quebra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de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contrato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chegam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à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produção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2600" b="1" i="0" dirty="0" err="1">
                <a:solidFill>
                  <a:srgbClr val="F1F1EF"/>
                </a:solidFill>
                <a:latin typeface="Arial"/>
              </a:rPr>
              <a:t>Resultado</a:t>
            </a:r>
            <a:r>
              <a:rPr sz="2600" b="1" i="0" dirty="0">
                <a:solidFill>
                  <a:srgbClr val="F1F1EF"/>
                </a:solidFill>
                <a:latin typeface="Arial"/>
              </a:rPr>
              <a:t>: Change Failure Rate ↑ e MTTR ↑ — </a:t>
            </a:r>
            <a:r>
              <a:rPr sz="2600" b="1" i="0" dirty="0" err="1">
                <a:solidFill>
                  <a:srgbClr val="F1F1EF"/>
                </a:solidFill>
                <a:latin typeface="Arial"/>
              </a:rPr>
              <a:t>exatamente</a:t>
            </a:r>
            <a:r>
              <a:rPr sz="2600" b="1" i="0" dirty="0">
                <a:solidFill>
                  <a:srgbClr val="F1F1EF"/>
                </a:solidFill>
                <a:latin typeface="Arial"/>
              </a:rPr>
              <a:t> o </a:t>
            </a:r>
            <a:r>
              <a:rPr sz="2600" b="1" i="0" dirty="0" err="1">
                <a:solidFill>
                  <a:srgbClr val="F1F1EF"/>
                </a:solidFill>
                <a:latin typeface="Arial"/>
              </a:rPr>
              <a:t>que</a:t>
            </a:r>
            <a:r>
              <a:rPr sz="2600" b="1" i="0" dirty="0">
                <a:solidFill>
                  <a:srgbClr val="F1F1E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1F1EF"/>
                </a:solidFill>
                <a:latin typeface="Arial"/>
              </a:rPr>
              <a:t>queremos</a:t>
            </a:r>
            <a:r>
              <a:rPr sz="2600" b="1" i="0" dirty="0">
                <a:solidFill>
                  <a:srgbClr val="F1F1EF"/>
                </a:solidFill>
                <a:latin typeface="Arial"/>
              </a:rPr>
              <a:t> </a:t>
            </a:r>
            <a:r>
              <a:rPr sz="2600" b="1" i="0" dirty="0" err="1">
                <a:solidFill>
                  <a:srgbClr val="F1F1EF"/>
                </a:solidFill>
                <a:latin typeface="Arial"/>
              </a:rPr>
              <a:t>evitar</a:t>
            </a:r>
            <a:r>
              <a:rPr sz="2600" b="1" i="0" dirty="0">
                <a:solidFill>
                  <a:srgbClr val="F1F1EF"/>
                </a:solidFill>
                <a:latin typeface="Arial"/>
              </a:rPr>
              <a:t>.</a:t>
            </a:r>
          </a:p>
        </p:txBody>
      </p:sp>
      <p:pic>
        <p:nvPicPr>
          <p:cNvPr id="6" name="Picture 1" descr="logo.png">
            <a:extLst>
              <a:ext uri="{FF2B5EF4-FFF2-40B4-BE49-F238E27FC236}">
                <a16:creationId xmlns:a16="http://schemas.microsoft.com/office/drawing/2014/main" id="{3F46039E-AD4F-7EE3-63F1-77E00349FBC6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493776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O alvo: DevCart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515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E-commerce em microsserviços — catálogo, carrinho, pedidos, + gateway e service discovery.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pedidos-service é o motor de cálculo: valida quantidade e preço de cada item, soma o total do pedido, checa estoque no catálogo.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9AA2AD"/>
                </a:solidFill>
                <a:latin typeface="Arial"/>
              </a:rPr>
              <a:t>É o tipo de código onde um erro de fronteira custa dinheiro.</a:t>
            </a:r>
          </a:p>
        </p:txBody>
      </p:sp>
      <p:pic>
        <p:nvPicPr>
          <p:cNvPr id="8" name="Picture 1" descr="logo.png">
            <a:extLst>
              <a:ext uri="{FF2B5EF4-FFF2-40B4-BE49-F238E27FC236}">
                <a16:creationId xmlns:a16="http://schemas.microsoft.com/office/drawing/2014/main" id="{4A4D6749-EB28-4A7F-8104-F4B7A4C0220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493776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Dois estados do mesmo código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515600" cy="1538883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 i="0" dirty="0">
                <a:solidFill>
                  <a:srgbClr val="F1F1EF"/>
                </a:solidFill>
                <a:latin typeface="Arial"/>
              </a:rPr>
              <a:t>•  REGRESSÃO — o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que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a IA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plausivelmente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entrega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: 100 % de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cobertura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,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mvn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verify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verde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, Sonar 0 bugs — e 6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defeitos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de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lógica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no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domínio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.</a:t>
            </a:r>
          </a:p>
          <a:p>
            <a:pPr algn="l">
              <a:spcAft>
                <a:spcPts val="1200"/>
              </a:spcAft>
            </a:pPr>
            <a:r>
              <a:rPr sz="2100" b="0" i="0" dirty="0">
                <a:solidFill>
                  <a:srgbClr val="F1F1EF"/>
                </a:solidFill>
                <a:latin typeface="Arial"/>
              </a:rPr>
              <a:t>•  CORRIGIDO —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os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6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defeitos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consertados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.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Os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gates 2–4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passam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a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barrar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a </a:t>
            </a:r>
            <a:r>
              <a:rPr sz="2100" b="0" i="0" dirty="0" err="1">
                <a:solidFill>
                  <a:srgbClr val="F1F1EF"/>
                </a:solidFill>
                <a:latin typeface="Arial"/>
              </a:rPr>
              <a:t>regressão</a:t>
            </a:r>
            <a:r>
              <a:rPr sz="2100" b="0" i="0" dirty="0">
                <a:solidFill>
                  <a:srgbClr val="F1F1EF"/>
                </a:solidFill>
                <a:latin typeface="Arial"/>
              </a:rPr>
              <a:t> no PR.</a:t>
            </a:r>
          </a:p>
        </p:txBody>
      </p:sp>
      <p:pic>
        <p:nvPicPr>
          <p:cNvPr id="7" name="Picture 1" descr="logo.png">
            <a:extLst>
              <a:ext uri="{FF2B5EF4-FFF2-40B4-BE49-F238E27FC236}">
                <a16:creationId xmlns:a16="http://schemas.microsoft.com/office/drawing/2014/main" id="{EFF844A7-B6E3-038F-6C3B-37A8140E397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2514600"/>
            <a:ext cx="109728" cy="1371600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5EEAD4"/>
                </a:solidFill>
                <a:latin typeface="Arial"/>
              </a:rPr>
              <a:t>GATE 1 DE 4</a:t>
            </a:r>
          </a:p>
          <a:p>
            <a:pPr algn="l">
              <a:spcAft>
                <a:spcPts val="1400"/>
              </a:spcAft>
            </a:pPr>
            <a:r>
              <a:rPr sz="5200" b="1" i="0">
                <a:solidFill>
                  <a:srgbClr val="F1F1EF"/>
                </a:solidFill>
                <a:latin typeface="Arial"/>
              </a:rPr>
              <a:t>Cobertura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9AA2AD"/>
                </a:solidFill>
                <a:latin typeface="Arial"/>
              </a:rPr>
              <a:t>JaCoCo (gate 100 % linha + ramo por classe) · SonarQube</a:t>
            </a:r>
          </a:p>
        </p:txBody>
      </p:sp>
      <p:pic>
        <p:nvPicPr>
          <p:cNvPr id="5" name="Picture 1" descr="logo.png">
            <a:extLst>
              <a:ext uri="{FF2B5EF4-FFF2-40B4-BE49-F238E27FC236}">
                <a16:creationId xmlns:a16="http://schemas.microsoft.com/office/drawing/2014/main" id="{794B92B5-57CD-6FC6-9300-8AE137A232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646920" y="384048"/>
            <a:ext cx="1874519" cy="457200"/>
          </a:xfrm>
          <a:prstGeom prst="roundRect">
            <a:avLst/>
          </a:prstGeom>
          <a:solidFill>
            <a:srgbClr val="F0B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14161B"/>
                </a:solidFill>
                <a:latin typeface="Arial"/>
              </a:rPr>
              <a:t>▶ AO VIVO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20623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384048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Gate 1 — o pipeline “pronto”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417320"/>
            <a:ext cx="10515600" cy="946404"/>
          </a:xfrm>
          <a:prstGeom prst="roundRect">
            <a:avLst/>
          </a:prstGeom>
          <a:solidFill>
            <a:srgbClr val="241E2E"/>
          </a:solidFill>
          <a:ln w="15875">
            <a:solidFill>
              <a:srgbClr val="C98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bIns="18288" rtlCol="0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C98BE0"/>
                </a:solidFill>
                <a:latin typeface="Arial"/>
              </a:rPr>
              <a:t>PROMPT QUE GEROU ISTO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Arial"/>
              </a:rPr>
              <a:t>Implemente o pedidos-service — valida quantidade e preço de cada item, soma o total do pedido, checa estoque no catálogo. Gere testes unitários com JUnit 5 + Mockito + AssertJ nas camadas service e model, cobrindo 100 % de linha e de ramo. Configure o gate de cobertura no JaCoCo.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875788"/>
            <a:ext cx="10515600" cy="973836"/>
          </a:xfrm>
          <a:prstGeom prst="roundRect">
            <a:avLst/>
          </a:prstGeom>
          <a:solidFill>
            <a:srgbClr val="0B0D10"/>
          </a:solidFill>
          <a:ln w="12700">
            <a:solidFill>
              <a:srgbClr val="2B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bIns="18288" rtlCol="0" anchor="ctr"/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9AA2AD"/>
                </a:solidFill>
                <a:latin typeface="Arial"/>
              </a:rPr>
              <a:t>ESPERADO NA IDE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Courier New"/>
              </a:rPr>
              <a:t>Tests run: 87 … Failures: 0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Courier New"/>
              </a:rPr>
              <a:t>All coverage checks have been met.  ·  BUILD SUCCESS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Courier New"/>
              </a:rPr>
              <a:t>JaCoCo 100 % / 100 %  ·  Sonar: Coverage 100 %, 0 Bugs, Passed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5935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AA2AD"/>
                </a:solidFill>
                <a:latin typeface="Arial"/>
              </a:rPr>
              <a:t>Numa PR isso é sinal de pronto. É aqui que a maioria dos times para.</a:t>
            </a:r>
          </a:p>
        </p:txBody>
      </p:sp>
      <p:pic>
        <p:nvPicPr>
          <p:cNvPr id="11" name="Picture 1" descr="logo.png">
            <a:extLst>
              <a:ext uri="{FF2B5EF4-FFF2-40B4-BE49-F238E27FC236}">
                <a16:creationId xmlns:a16="http://schemas.microsoft.com/office/drawing/2014/main" id="{81AAB2F5-3386-999A-693F-54AB9E5859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493776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O que cobertura realmente mede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515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•  Line coverage: esta linha foi executada por algum teste.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•  Branch coverage: os dois lados de cada if foram executados.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•  Nenhuma das duas exige que um assert tenha olhado o resultado.</a:t>
            </a:r>
          </a:p>
          <a:p>
            <a:pPr algn="l">
              <a:spcAft>
                <a:spcPts val="1200"/>
              </a:spcAft>
            </a:pPr>
            <a:r>
              <a:rPr sz="2600" b="1" i="0">
                <a:solidFill>
                  <a:srgbClr val="F1F1EF"/>
                </a:solidFill>
                <a:latin typeface="Arial"/>
              </a:rPr>
              <a:t>Um teste sem assert — ou com isNotNull() — conta 100 % igual a um teste forte.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9AA2AD"/>
                </a:solidFill>
                <a:latin typeface="Arial"/>
              </a:rPr>
              <a:t>Cobertura é bom detector de código não testado; certificado fraco de código testado.</a:t>
            </a:r>
          </a:p>
        </p:txBody>
      </p:sp>
      <p:pic>
        <p:nvPicPr>
          <p:cNvPr id="6" name="Picture 1" descr="logo.png">
            <a:extLst>
              <a:ext uri="{FF2B5EF4-FFF2-40B4-BE49-F238E27FC236}">
                <a16:creationId xmlns:a16="http://schemas.microsoft.com/office/drawing/2014/main" id="{B049BDE9-24FC-2175-889C-9CC2AECB9B1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2514600"/>
            <a:ext cx="109728" cy="1371600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5EEAD4"/>
                </a:solidFill>
                <a:latin typeface="Arial"/>
              </a:rPr>
              <a:t>GATE 2 DE 4</a:t>
            </a:r>
          </a:p>
          <a:p>
            <a:pPr algn="l">
              <a:spcAft>
                <a:spcPts val="1400"/>
              </a:spcAft>
            </a:pPr>
            <a:r>
              <a:rPr sz="5200" b="1" i="0">
                <a:solidFill>
                  <a:srgbClr val="F1F1EF"/>
                </a:solidFill>
                <a:latin typeface="Arial"/>
              </a:rPr>
              <a:t>Teste de Mutação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9AA2AD"/>
                </a:solidFill>
                <a:latin typeface="Arial"/>
              </a:rPr>
              <a:t>PITest (≙ Stryker no mundo JS/C#)</a:t>
            </a:r>
          </a:p>
        </p:txBody>
      </p:sp>
      <p:pic>
        <p:nvPicPr>
          <p:cNvPr id="5" name="Picture 1" descr="logo.png">
            <a:extLst>
              <a:ext uri="{FF2B5EF4-FFF2-40B4-BE49-F238E27FC236}">
                <a16:creationId xmlns:a16="http://schemas.microsoft.com/office/drawing/2014/main" id="{0BBFB0A0-0252-8E6B-374F-23D01E6D7DB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493776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O que é um “mutante”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515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O PITest injeta uma pequena falta no bytecode de produção: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•  &lt;  →  &lt;=     ·     +  →  -     ·     return x  →  return null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Roda a suíte contra cada versão alterada: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•  algum teste falhou → mutante MORTO (bom)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•  a suíte inteira passou → mutante SOBREVIVEU (seu teste não testa nada ali)</a:t>
            </a:r>
          </a:p>
        </p:txBody>
      </p:sp>
      <p:pic>
        <p:nvPicPr>
          <p:cNvPr id="6" name="Picture 1" descr="logo.png">
            <a:extLst>
              <a:ext uri="{FF2B5EF4-FFF2-40B4-BE49-F238E27FC236}">
                <a16:creationId xmlns:a16="http://schemas.microsoft.com/office/drawing/2014/main" id="{605A8778-1398-3614-EB62-946B9F7E292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646920" y="384048"/>
            <a:ext cx="1874519" cy="457200"/>
          </a:xfrm>
          <a:prstGeom prst="roundRect">
            <a:avLst/>
          </a:prstGeom>
          <a:solidFill>
            <a:srgbClr val="F0B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14161B"/>
                </a:solidFill>
                <a:latin typeface="Arial"/>
              </a:rPr>
              <a:t>▶ AO VIVO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20623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384048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Gate 2 — a suíte é eficaz?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417320"/>
            <a:ext cx="10515600" cy="946404"/>
          </a:xfrm>
          <a:prstGeom prst="roundRect">
            <a:avLst/>
          </a:prstGeom>
          <a:solidFill>
            <a:srgbClr val="241E2E"/>
          </a:solidFill>
          <a:ln w="15875">
            <a:solidFill>
              <a:srgbClr val="C98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bIns="18288" rtlCol="0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C98BE0"/>
                </a:solidFill>
                <a:latin typeface="Arial"/>
              </a:rPr>
              <a:t>PROMPT QUE GEROU ISTO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Arial"/>
              </a:rPr>
              <a:t>Adicione teste de mutação com PITest (pitest-maven + pitest-junit5-plugin) ao pedidos-service, como profile -Ppitest. Alvo: pacotes de domínio (model, service, dto, messaging). Mutadores DEFAULTS, relatório HTML + XML, e falhe o build se o mutation score ficar abaixo do threshold.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875788"/>
            <a:ext cx="10515600" cy="973836"/>
          </a:xfrm>
          <a:prstGeom prst="roundRect">
            <a:avLst/>
          </a:prstGeom>
          <a:solidFill>
            <a:srgbClr val="0B0D10"/>
          </a:solidFill>
          <a:ln w="12700">
            <a:solidFill>
              <a:srgbClr val="2B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bIns="18288" rtlCol="0" anchor="ctr"/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9AA2AD"/>
                </a:solidFill>
                <a:latin typeface="Arial"/>
              </a:rPr>
              <a:t>ESPERADO NA IDE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Courier New"/>
              </a:rPr>
              <a:t>&gt;&gt; Line Coverage (for mutated classes only): 128/128 (100%)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Courier New"/>
              </a:rPr>
              <a:t>&gt;&gt; Generated 45 mutations Killed 44 (98%)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Courier New"/>
              </a:rPr>
              <a:t>[ERROR] Mutation score of 98 is below threshold of 100  →  BUILD FAILURE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959352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AA2AD"/>
                </a:solidFill>
                <a:latin typeface="Arial"/>
              </a:rPr>
              <a:t>pit-reports → ItemPedido.java linha 44: SURVIVED — changed conditional boundary. O PITest trocou quantidade &lt; 0 por &lt;= 0 e nenhum teste percebeu — os exemplos testam -1 e um positivo, nunca a fronteira 0.</a:t>
            </a:r>
          </a:p>
        </p:txBody>
      </p:sp>
      <p:pic>
        <p:nvPicPr>
          <p:cNvPr id="11" name="Picture 1" descr="logo.png">
            <a:extLst>
              <a:ext uri="{FF2B5EF4-FFF2-40B4-BE49-F238E27FC236}">
                <a16:creationId xmlns:a16="http://schemas.microsoft.com/office/drawing/2014/main" id="{59FE71A6-1640-C40F-6DC1-636EF5D0B2D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493776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A tela que resume a palestra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515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600" b="1" i="0">
                <a:solidFill>
                  <a:srgbClr val="F1F1EF"/>
                </a:solidFill>
                <a:latin typeface="Arial"/>
              </a:rPr>
              <a:t>100 % de cobertura de linha.</a:t>
            </a:r>
          </a:p>
          <a:p>
            <a:pPr algn="l">
              <a:spcAft>
                <a:spcPts val="1200"/>
              </a:spcAft>
            </a:pPr>
            <a:r>
              <a:rPr sz="2600" b="1" i="0">
                <a:solidFill>
                  <a:srgbClr val="F1F1EF"/>
                </a:solidFill>
                <a:latin typeface="Arial"/>
              </a:rPr>
              <a:t>98 % de mutation score — build vermelho.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O mutante que sobrou está numa linha 100 % coberta… e é um bug de produção real: quantidade = 0 passa na validação.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9AA2AD"/>
                </a:solidFill>
                <a:latin typeface="Arial"/>
              </a:rPr>
              <a:t>Nenhum quality gate configurado por cobertura pegaria isto.</a:t>
            </a:r>
          </a:p>
        </p:txBody>
      </p:sp>
      <p:pic>
        <p:nvPicPr>
          <p:cNvPr id="6" name="Picture 1" descr="logo.png">
            <a:extLst>
              <a:ext uri="{FF2B5EF4-FFF2-40B4-BE49-F238E27FC236}">
                <a16:creationId xmlns:a16="http://schemas.microsoft.com/office/drawing/2014/main" id="{CAFC138B-0F96-D966-83E5-3A7880CF104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2514600"/>
            <a:ext cx="109728" cy="1371600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5EEAD4"/>
                </a:solidFill>
                <a:latin typeface="Arial"/>
              </a:rPr>
              <a:t>GATE 3 DE 4</a:t>
            </a:r>
          </a:p>
          <a:p>
            <a:pPr algn="l">
              <a:spcAft>
                <a:spcPts val="1400"/>
              </a:spcAft>
            </a:pPr>
            <a:r>
              <a:rPr sz="5200" b="1" i="0">
                <a:solidFill>
                  <a:srgbClr val="F1F1EF"/>
                </a:solidFill>
                <a:latin typeface="Arial"/>
              </a:rPr>
              <a:t>Property-Based Testing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9AA2AD"/>
                </a:solidFill>
                <a:latin typeface="Arial"/>
              </a:rPr>
              <a:t>jqwik (≙ fast-check)</a:t>
            </a:r>
          </a:p>
        </p:txBody>
      </p:sp>
      <p:pic>
        <p:nvPicPr>
          <p:cNvPr id="5" name="Picture 1" descr="logo.png">
            <a:extLst>
              <a:ext uri="{FF2B5EF4-FFF2-40B4-BE49-F238E27FC236}">
                <a16:creationId xmlns:a16="http://schemas.microsoft.com/office/drawing/2014/main" id="{B33C974D-9570-CB83-0670-A0A6C52AD12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493776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Exemplo  vs  Propriedade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515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•  Teste de exemplo: entrada → saída esperada. Um caso, escolhido a dedo por um humano. Viés de happy-path.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•  Property: um invariante para todo o domínio. O framework gera centenas de casos (0, -1, MAX, vazio, decimal de 30 casas) tentando quebrar.</a:t>
            </a:r>
          </a:p>
          <a:p>
            <a:pPr algn="l">
              <a:spcAft>
                <a:spcPts val="1200"/>
              </a:spcAft>
            </a:pPr>
            <a:r>
              <a:rPr sz="2600" b="1" i="0">
                <a:solidFill>
                  <a:srgbClr val="F1F1EF"/>
                </a:solidFill>
                <a:latin typeface="Arial"/>
              </a:rPr>
              <a:t>Na falha: shrinking — reduz ao menor input que ainda quebra. Bug report pronto.</a:t>
            </a:r>
          </a:p>
        </p:txBody>
      </p:sp>
      <p:pic>
        <p:nvPicPr>
          <p:cNvPr id="6" name="Picture 1" descr="logo.png">
            <a:extLst>
              <a:ext uri="{FF2B5EF4-FFF2-40B4-BE49-F238E27FC236}">
                <a16:creationId xmlns:a16="http://schemas.microsoft.com/office/drawing/2014/main" id="{5CEC755E-45CD-C7B9-DDE2-338C189F2BD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646920" y="384048"/>
            <a:ext cx="1874519" cy="457200"/>
          </a:xfrm>
          <a:prstGeom prst="roundRect">
            <a:avLst/>
          </a:prstGeom>
          <a:solidFill>
            <a:srgbClr val="F0B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14161B"/>
                </a:solidFill>
                <a:latin typeface="Arial"/>
              </a:rPr>
              <a:t>▶ AO VIVO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20623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384048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Gate 3 — a regra está especificada?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182185"/>
            <a:ext cx="10515600" cy="1152144"/>
          </a:xfrm>
          <a:prstGeom prst="roundRect">
            <a:avLst/>
          </a:prstGeom>
          <a:solidFill>
            <a:srgbClr val="241E2E"/>
          </a:solidFill>
          <a:ln w="15875">
            <a:solidFill>
              <a:srgbClr val="C98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bIns="18288" rtlCol="0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C98BE0"/>
                </a:solidFill>
                <a:latin typeface="Arial"/>
              </a:rPr>
              <a:t>PROMPT QUE GEROU ISTO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Arial"/>
              </a:rPr>
              <a:t>Crie testes de propriedade com jqwik para o motor de cálculo do pedido, marcados @Tag("pbt"). Geradores @Provide com números negativos, zero, decimais de escala 30 e inteiros grandes. Propriedades: valorTotal nunca negativo nem NaN; quantidade &lt;= 0 sempre lança IllegalArgumentException; subtotal == preço × quantidade; recalcularTotal é idempotente. Use @Report(FALSIFIED) para exibir o counterexample no shrinking.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96112" y="2846393"/>
            <a:ext cx="10515600" cy="310896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200" b="0" i="0">
                <a:solidFill>
                  <a:srgbClr val="9AA2AD"/>
                </a:solidFill>
                <a:latin typeface="Courier New"/>
              </a:rPr>
              <a:t>esperado na IDE:  Tests run: 48, Failures: 6  →  BUILD FAILURE</a:t>
            </a:r>
          </a:p>
        </p:txBody>
      </p:sp>
      <p:graphicFrame>
        <p:nvGraphicFramePr>
          <p:cNvPr id="10" name="Table 9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66910023"/>
              </p:ext>
            </p:extLst>
          </p:nvPr>
        </p:nvGraphicFramePr>
        <p:xfrm>
          <a:off x="896112" y="3230441"/>
          <a:ext cx="1051560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216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66344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74320"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EEAD4"/>
                          </a:solidFill>
                          <a:latin typeface="Arial"/>
                        </a:rPr>
                        <a:t>Property</a:t>
                      </a:r>
                    </a:p>
                  </a:txBody>
                  <a:tcPr marT="27432" marB="27432"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b="1">
                          <a:solidFill>
                            <a:srgbClr val="5EEAD4"/>
                          </a:solidFill>
                          <a:latin typeface="Arial"/>
                        </a:rPr>
                        <a:t>Counterexample mínimo (shrink)</a:t>
                      </a:r>
                    </a:p>
                  </a:txBody>
                  <a:tcPr marT="27432" marB="27432">
                    <a:solidFill>
                      <a:srgbClr val="1D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1EF"/>
                          </a:solidFill>
                          <a:latin typeface="Arial"/>
                        </a:rPr>
                        <a:t>ItemPedido · quantidade ≤ 0 lança exceção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 err="1">
                          <a:solidFill>
                            <a:srgbClr val="F1F1EF"/>
                          </a:solidFill>
                          <a:latin typeface="Arial"/>
                        </a:rPr>
                        <a:t>quantidade</a:t>
                      </a:r>
                      <a:r>
                        <a:rPr sz="1100" dirty="0">
                          <a:solidFill>
                            <a:srgbClr val="F1F1EF"/>
                          </a:solidFill>
                          <a:latin typeface="Arial"/>
                        </a:rPr>
                        <a:t> = 0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1EF"/>
                          </a:solidFill>
                          <a:latin typeface="Arial"/>
                        </a:rPr>
                        <a:t>ItemPedido · preço negativo lança exceção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1EF"/>
                          </a:solidFill>
                          <a:latin typeface="Arial"/>
                        </a:rPr>
                        <a:t>preco = -1E-30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1EF"/>
                          </a:solidFill>
                          <a:latin typeface="Arial"/>
                        </a:rPr>
                        <a:t>Pedido.recalcularTotal é idempotente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1EF"/>
                          </a:solidFill>
                          <a:latin typeface="Arial"/>
                        </a:rPr>
                        <a:t>1×=1E-10 · 3×=3E-10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1EF"/>
                          </a:solidFill>
                          <a:latin typeface="Arial"/>
                        </a:rPr>
                        <a:t>ItemPedidoResponse · subtotal = preço × qtd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1EF"/>
                          </a:solidFill>
                          <a:latin typeface="Arial"/>
                        </a:rPr>
                        <a:t>preço 1E-20 → DTO devolve 2E-20 (q=2)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1EF"/>
                          </a:solidFill>
                          <a:latin typeface="Arial"/>
                        </a:rPr>
                        <a:t>PedidoCriadoEvent · qtdItens = soma das linhas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1EF"/>
                          </a:solidFill>
                          <a:latin typeface="Arial"/>
                        </a:rPr>
                        <a:t>1 linha q=2 → evento diz 1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7432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F1F1EF"/>
                          </a:solidFill>
                          <a:latin typeface="Arial"/>
                        </a:rPr>
                        <a:t>PedidoService · estoque valida a soma por produto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 dirty="0">
                          <a:solidFill>
                            <a:srgbClr val="F1F1EF"/>
                          </a:solidFill>
                          <a:latin typeface="Arial"/>
                        </a:rPr>
                        <a:t>estoque 2 · </a:t>
                      </a:r>
                      <a:r>
                        <a:rPr sz="1100" dirty="0" err="1">
                          <a:solidFill>
                            <a:srgbClr val="F1F1EF"/>
                          </a:solidFill>
                          <a:latin typeface="Arial"/>
                        </a:rPr>
                        <a:t>pedido</a:t>
                      </a:r>
                      <a:r>
                        <a:rPr sz="1100" dirty="0">
                          <a:solidFill>
                            <a:srgbClr val="F1F1EF"/>
                          </a:solidFill>
                          <a:latin typeface="Arial"/>
                        </a:rPr>
                        <a:t> [1, 2] → </a:t>
                      </a:r>
                      <a:r>
                        <a:rPr sz="1100" dirty="0" err="1">
                          <a:solidFill>
                            <a:srgbClr val="F1F1EF"/>
                          </a:solidFill>
                          <a:latin typeface="Arial"/>
                        </a:rPr>
                        <a:t>aceito</a:t>
                      </a:r>
                      <a:endParaRPr sz="1100" dirty="0">
                        <a:solidFill>
                          <a:srgbClr val="F1F1EF"/>
                        </a:solidFill>
                        <a:latin typeface="Arial"/>
                      </a:endParaRP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pic>
        <p:nvPicPr>
          <p:cNvPr id="11" name="Picture 1" descr="logo.png">
            <a:extLst>
              <a:ext uri="{FF2B5EF4-FFF2-40B4-BE49-F238E27FC236}">
                <a16:creationId xmlns:a16="http://schemas.microsoft.com/office/drawing/2014/main" id="{D09FEC49-D376-C878-8503-AA9564F44D3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493776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Mutação aponta a linha. Property-based dá o input.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515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PITest: “a suíte é cega em ItemPedido:44.”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jqwik: “o input que quebra é quantidade = 0” — sem eu ter pensado nele.</a:t>
            </a:r>
          </a:p>
          <a:p>
            <a:pPr algn="l">
              <a:spcAft>
                <a:spcPts val="1200"/>
              </a:spcAft>
            </a:pPr>
            <a:r>
              <a:rPr sz="2600" b="1" i="0">
                <a:solidFill>
                  <a:srgbClr val="F1F1EF"/>
                </a:solidFill>
                <a:latin typeface="Arial"/>
              </a:rPr>
              <a:t>Mutação encontra teste fraco. Property-based encontra especificação ausente. São complementares.</a:t>
            </a:r>
          </a:p>
        </p:txBody>
      </p:sp>
      <p:pic>
        <p:nvPicPr>
          <p:cNvPr id="6" name="Picture 1" descr="logo.png">
            <a:extLst>
              <a:ext uri="{FF2B5EF4-FFF2-40B4-BE49-F238E27FC236}">
                <a16:creationId xmlns:a16="http://schemas.microsoft.com/office/drawing/2014/main" id="{93442FC4-A0D0-0FBF-40CB-75021E7AD68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646920" y="384048"/>
            <a:ext cx="1874519" cy="457200"/>
          </a:xfrm>
          <a:prstGeom prst="roundRect">
            <a:avLst/>
          </a:prstGeom>
          <a:solidFill>
            <a:srgbClr val="F0B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14161B"/>
                </a:solidFill>
                <a:latin typeface="Arial"/>
              </a:rPr>
              <a:t>▶ AO VIVO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20623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384048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O gate no Pull Request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417320"/>
            <a:ext cx="10515600" cy="946404"/>
          </a:xfrm>
          <a:prstGeom prst="roundRect">
            <a:avLst/>
          </a:prstGeom>
          <a:solidFill>
            <a:srgbClr val="241E2E"/>
          </a:solidFill>
          <a:ln w="15875">
            <a:solidFill>
              <a:srgbClr val="C98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bIns="18288" rtlCol="0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C98BE0"/>
                </a:solidFill>
                <a:latin typeface="Arial"/>
              </a:rPr>
              <a:t>PROMPT QUE GEROU ISTO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Arial"/>
              </a:rPr>
              <a:t>O PITest acusou um mutante sobrevivente em ItemPedido:44 (ConditionalsBoundaryMutator) e o jqwik falsificou 6 propriedades do domínio. Corrija os defeitos de lógica apontados sem quebrar a suíte unitária, e deixe as propriedades passando como gate de regressão.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2875788"/>
            <a:ext cx="10515600" cy="758952"/>
          </a:xfrm>
          <a:prstGeom prst="roundRect">
            <a:avLst/>
          </a:prstGeom>
          <a:solidFill>
            <a:srgbClr val="0B0D10"/>
          </a:solidFill>
          <a:ln w="12700">
            <a:solidFill>
              <a:srgbClr val="2B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bIns="18288" rtlCol="0" anchor="ctr"/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9AA2AD"/>
                </a:solidFill>
                <a:latin typeface="Arial"/>
              </a:rPr>
              <a:t>ESPERADO NA IDE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Courier New"/>
              </a:rPr>
              <a:t>PITest  →  47/47 (100%)   BUILD SUCCESS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Courier New"/>
              </a:rPr>
              <a:t>jqwik   →  48/48           BUILD SUCCESS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3744468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AA2AD"/>
                </a:solidFill>
                <a:latin typeface="Arial"/>
              </a:rPr>
              <a:t>Reintroduziu o &lt; 0? A PR fica vermelha antes do merge — seja a mudança de uma pessoa ou de uma IA. O conhecimento sobre 'onde esse código quebra' virou gate.</a:t>
            </a:r>
          </a:p>
        </p:txBody>
      </p:sp>
      <p:pic>
        <p:nvPicPr>
          <p:cNvPr id="11" name="Picture 1" descr="logo.png">
            <a:extLst>
              <a:ext uri="{FF2B5EF4-FFF2-40B4-BE49-F238E27FC236}">
                <a16:creationId xmlns:a16="http://schemas.microsoft.com/office/drawing/2014/main" id="{4BF78D22-EE46-735F-49D2-6B308FC9AD9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822960" y="2514600"/>
            <a:ext cx="109728" cy="1371600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97280" y="2194560"/>
            <a:ext cx="10058400" cy="2743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400"/>
              </a:spcAft>
            </a:pPr>
            <a:r>
              <a:rPr sz="1600" b="1" i="0">
                <a:solidFill>
                  <a:srgbClr val="5EEAD4"/>
                </a:solidFill>
                <a:latin typeface="Arial"/>
              </a:rPr>
              <a:t>GATE 4 DE 4</a:t>
            </a:r>
          </a:p>
          <a:p>
            <a:pPr algn="l">
              <a:spcAft>
                <a:spcPts val="1400"/>
              </a:spcAft>
            </a:pPr>
            <a:r>
              <a:rPr sz="5200" b="1" i="0">
                <a:solidFill>
                  <a:srgbClr val="F1F1EF"/>
                </a:solidFill>
                <a:latin typeface="Arial"/>
              </a:rPr>
              <a:t>Teste de Contrato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9AA2AD"/>
                </a:solidFill>
                <a:latin typeface="Arial"/>
              </a:rPr>
              <a:t>Pact JVM — governança de integração</a:t>
            </a:r>
          </a:p>
        </p:txBody>
      </p:sp>
      <p:pic>
        <p:nvPicPr>
          <p:cNvPr id="5" name="Picture 1" descr="logo.png">
            <a:extLst>
              <a:ext uri="{FF2B5EF4-FFF2-40B4-BE49-F238E27FC236}">
                <a16:creationId xmlns:a16="http://schemas.microsoft.com/office/drawing/2014/main" id="{0C3772EF-CAA5-C293-D1F1-DB61C8DE602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493776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O problema do e2e entre serviços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515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•  e2e real: lento, instável, precisa de ambiente com todos os serviços — feedback tardio.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•  Integração com mock: rápida, mas o mock desvia da realidade.</a:t>
            </a:r>
          </a:p>
          <a:p>
            <a:pPr algn="l">
              <a:spcAft>
                <a:spcPts val="1200"/>
              </a:spcAft>
            </a:pPr>
            <a:r>
              <a:rPr sz="2600" b="1" i="0">
                <a:solidFill>
                  <a:srgbClr val="F1F1EF"/>
                </a:solidFill>
                <a:latin typeface="Arial"/>
              </a:rPr>
              <a:t>“Passa nos mocks, quebra em produção.”</a:t>
            </a:r>
          </a:p>
        </p:txBody>
      </p:sp>
      <p:pic>
        <p:nvPicPr>
          <p:cNvPr id="6" name="Picture 1" descr="logo.png">
            <a:extLst>
              <a:ext uri="{FF2B5EF4-FFF2-40B4-BE49-F238E27FC236}">
                <a16:creationId xmlns:a16="http://schemas.microsoft.com/office/drawing/2014/main" id="{E41D761A-C512-367F-5E22-8782C10CD99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493776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Consumer-Driven Contracts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515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1.  O consumer (pedidos) declara o que precisa do provider (catalogo) em GET /produtos/{id}: campos, tipos, estado. → gera um pact.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2.  O provider sobe de verdade e replaya cada interação do pact contra a resposta real.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3.  can-i-deploy consulta a matriz: “esta versão do consumer é compatível com a que está em produção?”</a:t>
            </a:r>
          </a:p>
        </p:txBody>
      </p:sp>
      <p:pic>
        <p:nvPicPr>
          <p:cNvPr id="6" name="Picture 1" descr="logo.png">
            <a:extLst>
              <a:ext uri="{FF2B5EF4-FFF2-40B4-BE49-F238E27FC236}">
                <a16:creationId xmlns:a16="http://schemas.microsoft.com/office/drawing/2014/main" id="{1DA72BF6-B332-ABB5-C3F1-C497A01BB7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ounded Rectangle 2"/>
          <p:cNvSpPr/>
          <p:nvPr/>
        </p:nvSpPr>
        <p:spPr>
          <a:xfrm>
            <a:off x="9646920" y="384048"/>
            <a:ext cx="1874519" cy="457200"/>
          </a:xfrm>
          <a:prstGeom prst="roundRect">
            <a:avLst/>
          </a:prstGeom>
          <a:solidFill>
            <a:srgbClr val="F0B55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none" rtlCol="0" anchor="ctr"/>
          <a:lstStyle/>
          <a:p>
            <a:pPr algn="ctr"/>
            <a:r>
              <a:rPr sz="1300" b="1">
                <a:solidFill>
                  <a:srgbClr val="14161B"/>
                </a:solidFill>
                <a:latin typeface="Arial"/>
              </a:rPr>
              <a:t>▶ AO VIVO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420623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896112" y="384048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Gate 4 — a integração continua compatível?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96112" y="1417320"/>
            <a:ext cx="10515600" cy="1152144"/>
          </a:xfrm>
          <a:prstGeom prst="roundRect">
            <a:avLst/>
          </a:prstGeom>
          <a:solidFill>
            <a:srgbClr val="241E2E"/>
          </a:solidFill>
          <a:ln w="15875">
            <a:solidFill>
              <a:srgbClr val="C98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tIns="54864" bIns="18288" rtlCol="0" anchor="ctr"/>
          <a:lstStyle/>
          <a:p>
            <a:pPr algn="l">
              <a:spcAft>
                <a:spcPts val="300"/>
              </a:spcAft>
            </a:pPr>
            <a:r>
              <a:rPr sz="950" b="1" i="0">
                <a:solidFill>
                  <a:srgbClr val="C98BE0"/>
                </a:solidFill>
                <a:latin typeface="Arial"/>
              </a:rPr>
              <a:t>PROMPT QUE GEROU ISTO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Arial"/>
              </a:rPr>
              <a:t>Implemente teste de contrato Pact JVM entre pedidos-service (consumer, GET /produtos/{id} via CatalogoFeignClient) e catalogo-service (provider), marcados @Tag("contract"). Consumer: pact-consumer-junit5 + mock server, matchers por tipo. Provider: @SpringBootTest em porta aleatória, ProdutoService mockado por @State. Gere o pact e verifique-o no provider.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6112" y="3081528"/>
            <a:ext cx="10515600" cy="1403603"/>
          </a:xfrm>
          <a:prstGeom prst="roundRect">
            <a:avLst/>
          </a:prstGeom>
          <a:solidFill>
            <a:srgbClr val="0B0D10"/>
          </a:solidFill>
          <a:ln w="12700">
            <a:solidFill>
              <a:srgbClr val="2B2F37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lIns="128016" bIns="18288" rtlCol="0" anchor="ctr"/>
          <a:lstStyle/>
          <a:p>
            <a:pPr algn="l">
              <a:spcAft>
                <a:spcPts val="200"/>
              </a:spcAft>
            </a:pPr>
            <a:r>
              <a:rPr sz="850" b="1" i="0">
                <a:solidFill>
                  <a:srgbClr val="9AA2AD"/>
                </a:solidFill>
                <a:latin typeface="Arial"/>
              </a:rPr>
              <a:t>ESPERADO NA IDE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Courier New"/>
              </a:rPr>
              <a:t>[consumer] CatalogoContractTest ......... Tests run: 1, Failures: 0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Courier New"/>
              </a:rPr>
              <a:t>           → gera pedidos-service-catalogo-service.json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Courier New"/>
              </a:rPr>
              <a:t>[provider] Verifying a pact between pedidos-service and catalogo-service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Courier New"/>
              </a:rPr>
              <a:t>             has status code 200 (OK)</a:t>
            </a:r>
          </a:p>
          <a:p>
            <a:pPr algn="l">
              <a:spcAft>
                <a:spcPts val="0"/>
              </a:spcAft>
            </a:pPr>
            <a:r>
              <a:rPr sz="1150" b="0" i="0">
                <a:solidFill>
                  <a:srgbClr val="F1F1EF"/>
                </a:solidFill>
                <a:latin typeface="Courier New"/>
              </a:rPr>
              <a:t>             has a matching body (OK)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96112" y="4594860"/>
            <a:ext cx="10515600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1050" b="0" i="0">
                <a:solidFill>
                  <a:srgbClr val="9AA2AD"/>
                </a:solidFill>
                <a:latin typeface="Arial"/>
              </a:rPr>
              <a:t>No pact os matchers fixam tipo, não valor: $.preco → decimal, $.estoque → integer. Renomeou preco no catálogo? Vermelho no CI do catálogo, antes do deploy. Isso é can-i-deploy.</a:t>
            </a:r>
          </a:p>
        </p:txBody>
      </p:sp>
      <p:pic>
        <p:nvPicPr>
          <p:cNvPr id="11" name="Picture 1" descr="logo.png">
            <a:extLst>
              <a:ext uri="{FF2B5EF4-FFF2-40B4-BE49-F238E27FC236}">
                <a16:creationId xmlns:a16="http://schemas.microsoft.com/office/drawing/2014/main" id="{931F1A58-9850-DD9F-BC36-3ED92F16728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535" y="6291072"/>
            <a:ext cx="420624" cy="420624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640080" y="493776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Síntese — 4 perguntas, 4 gates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896112" y="1828800"/>
          <a:ext cx="10515600" cy="15544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505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505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10896"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EEAD4"/>
                          </a:solidFill>
                          <a:latin typeface="Arial"/>
                        </a:rPr>
                        <a:t>Gate</a:t>
                      </a:r>
                    </a:p>
                  </a:txBody>
                  <a:tcPr marT="27432" marB="27432"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EEAD4"/>
                          </a:solidFill>
                          <a:latin typeface="Arial"/>
                        </a:rPr>
                        <a:t>O que mede</a:t>
                      </a:r>
                    </a:p>
                  </a:txBody>
                  <a:tcPr marT="27432" marB="27432">
                    <a:solidFill>
                      <a:srgbClr val="1D1F23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 b="1">
                          <a:solidFill>
                            <a:srgbClr val="5EEAD4"/>
                          </a:solidFill>
                          <a:latin typeface="Arial"/>
                        </a:rPr>
                        <a:t>Onde roda</a:t>
                      </a:r>
                    </a:p>
                  </a:txBody>
                  <a:tcPr marT="27432" marB="27432">
                    <a:solidFill>
                      <a:srgbClr val="1D1F2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1EF"/>
                          </a:solidFill>
                          <a:latin typeface="Arial"/>
                        </a:rPr>
                        <a:t>Cobertura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1EF"/>
                          </a:solidFill>
                          <a:latin typeface="Arial"/>
                        </a:rPr>
                        <a:t>o código foi executado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1EF"/>
                          </a:solidFill>
                          <a:latin typeface="Arial"/>
                        </a:rPr>
                        <a:t>todo commit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1EF"/>
                          </a:solidFill>
                          <a:latin typeface="Arial"/>
                        </a:rPr>
                        <a:t>Mutação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1EF"/>
                          </a:solidFill>
                          <a:latin typeface="Arial"/>
                        </a:rPr>
                        <a:t>a suíte é eficaz (mataria o bug)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1EF"/>
                          </a:solidFill>
                          <a:latin typeface="Arial"/>
                        </a:rPr>
                        <a:t>PR (diff) + noturno (full)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1EF"/>
                          </a:solidFill>
                          <a:latin typeface="Arial"/>
                        </a:rPr>
                        <a:t>Property-based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1EF"/>
                          </a:solidFill>
                          <a:latin typeface="Arial"/>
                        </a:rPr>
                        <a:t>a regra está especificada p/ todo o domínio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1EF"/>
                          </a:solidFill>
                          <a:latin typeface="Arial"/>
                        </a:rPr>
                        <a:t>todo commit (é rápido)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1089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1EF"/>
                          </a:solidFill>
                          <a:latin typeface="Arial"/>
                        </a:rPr>
                        <a:t>Contrato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1EF"/>
                          </a:solidFill>
                          <a:latin typeface="Arial"/>
                        </a:rPr>
                        <a:t>a integração continua compatível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F1F1EF"/>
                          </a:solidFill>
                          <a:latin typeface="Arial"/>
                        </a:rPr>
                        <a:t>PR de cada serviço + can-i-deploy</a:t>
                      </a:r>
                    </a:p>
                  </a:txBody>
                  <a:tcPr marT="27432" marB="27432">
                    <a:solidFill>
                      <a:srgbClr val="14161B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6" name="TextBox 5"/>
          <p:cNvSpPr txBox="1"/>
          <p:nvPr/>
        </p:nvSpPr>
        <p:spPr>
          <a:xfrm>
            <a:off x="896112" y="4762929"/>
            <a:ext cx="10515600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0"/>
              </a:spcAft>
            </a:pPr>
            <a:r>
              <a:rPr sz="2400" b="1" i="0" dirty="0">
                <a:solidFill>
                  <a:srgbClr val="F1F1EF"/>
                </a:solidFill>
                <a:latin typeface="Arial"/>
              </a:rPr>
              <a:t>As </a:t>
            </a:r>
            <a:r>
              <a:rPr sz="2400" b="1" i="0" dirty="0" err="1">
                <a:solidFill>
                  <a:srgbClr val="F1F1EF"/>
                </a:solidFill>
                <a:latin typeface="Arial"/>
              </a:rPr>
              <a:t>três</a:t>
            </a:r>
            <a:r>
              <a:rPr sz="2400" b="1" i="0" dirty="0">
                <a:solidFill>
                  <a:srgbClr val="F1F1EF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F1F1EF"/>
                </a:solidFill>
                <a:latin typeface="Arial"/>
              </a:rPr>
              <a:t>avançadas</a:t>
            </a:r>
            <a:r>
              <a:rPr sz="2400" b="1" i="0" dirty="0">
                <a:solidFill>
                  <a:srgbClr val="F1F1EF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F1F1EF"/>
                </a:solidFill>
                <a:latin typeface="Arial"/>
              </a:rPr>
              <a:t>medem</a:t>
            </a:r>
            <a:r>
              <a:rPr sz="2400" b="1" i="0" dirty="0">
                <a:solidFill>
                  <a:srgbClr val="F1F1EF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F1F1EF"/>
                </a:solidFill>
                <a:latin typeface="Arial"/>
              </a:rPr>
              <a:t>eficácia</a:t>
            </a:r>
            <a:r>
              <a:rPr sz="2400" b="1" i="0" dirty="0">
                <a:solidFill>
                  <a:srgbClr val="F1F1EF"/>
                </a:solidFill>
                <a:latin typeface="Arial"/>
              </a:rPr>
              <a:t> — </a:t>
            </a:r>
            <a:r>
              <a:rPr sz="2400" b="1" i="0" dirty="0" err="1">
                <a:solidFill>
                  <a:srgbClr val="F1F1EF"/>
                </a:solidFill>
                <a:latin typeface="Arial"/>
              </a:rPr>
              <a:t>não</a:t>
            </a:r>
            <a:r>
              <a:rPr sz="2400" b="1" i="0" dirty="0">
                <a:solidFill>
                  <a:srgbClr val="F1F1EF"/>
                </a:solidFill>
                <a:latin typeface="Arial"/>
              </a:rPr>
              <a:t> </a:t>
            </a:r>
            <a:r>
              <a:rPr sz="2400" b="1" i="0" dirty="0" err="1">
                <a:solidFill>
                  <a:srgbClr val="F1F1EF"/>
                </a:solidFill>
                <a:latin typeface="Arial"/>
              </a:rPr>
              <a:t>execução</a:t>
            </a:r>
            <a:r>
              <a:rPr sz="2400" b="1" i="0" dirty="0">
                <a:solidFill>
                  <a:srgbClr val="F1F1EF"/>
                </a:solidFill>
                <a:latin typeface="Arial"/>
              </a:rPr>
              <a:t>.</a:t>
            </a:r>
          </a:p>
        </p:txBody>
      </p:sp>
      <p:pic>
        <p:nvPicPr>
          <p:cNvPr id="7" name="Picture 1" descr="logo.png">
            <a:extLst>
              <a:ext uri="{FF2B5EF4-FFF2-40B4-BE49-F238E27FC236}">
                <a16:creationId xmlns:a16="http://schemas.microsoft.com/office/drawing/2014/main" id="{C9FA1B4A-DE78-3B8D-BE43-EE625DB01BF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493776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O custo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515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600" b="1" i="0">
                <a:solidFill>
                  <a:srgbClr val="F1F1EF"/>
                </a:solidFill>
                <a:latin typeface="Arial"/>
              </a:rPr>
              <a:t>Gate no PR = minutos de CI.</a:t>
            </a:r>
          </a:p>
          <a:p>
            <a:pPr algn="l">
              <a:spcAft>
                <a:spcPts val="1200"/>
              </a:spcAft>
            </a:pPr>
            <a:r>
              <a:rPr sz="2600" b="1" i="0">
                <a:solidFill>
                  <a:srgbClr val="F1F1EF"/>
                </a:solidFill>
                <a:latin typeface="Arial"/>
              </a:rPr>
              <a:t>Não ter o gate = incidente: on-call, diagnóstico, hotfix, deploy de emergência, post-mortem, cliente impactado — o MTTR do abstract.</a:t>
            </a:r>
          </a:p>
          <a:p>
            <a:pPr algn="l">
              <a:spcAft>
                <a:spcPts val="1000"/>
              </a:spcAft>
            </a:pPr>
            <a:r>
              <a:rPr sz="1800" b="0" i="0">
                <a:solidFill>
                  <a:srgbClr val="9AA2AD"/>
                </a:solidFill>
                <a:latin typeface="Arial"/>
              </a:rPr>
              <a:t>É mais barato falhar numa Pull Request.</a:t>
            </a:r>
          </a:p>
        </p:txBody>
      </p:sp>
      <p:pic>
        <p:nvPicPr>
          <p:cNvPr id="6" name="Picture 1" descr="logo.png">
            <a:extLst>
              <a:ext uri="{FF2B5EF4-FFF2-40B4-BE49-F238E27FC236}">
                <a16:creationId xmlns:a16="http://schemas.microsoft.com/office/drawing/2014/main" id="{29E72E55-56E9-445C-FFD7-D42766DB7E4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/>
          <p:cNvSpPr/>
          <p:nvPr/>
        </p:nvSpPr>
        <p:spPr>
          <a:xfrm>
            <a:off x="640080" y="493776"/>
            <a:ext cx="82296" cy="566928"/>
          </a:xfrm>
          <a:prstGeom prst="rect">
            <a:avLst/>
          </a:prstGeom>
          <a:solidFill>
            <a:srgbClr val="C98BE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896112" y="457200"/>
            <a:ext cx="10607040" cy="1005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800"/>
              </a:spcAft>
            </a:pPr>
            <a:r>
              <a:rPr sz="2900" b="1" i="0">
                <a:solidFill>
                  <a:srgbClr val="F1F1EF"/>
                </a:solidFill>
                <a:latin typeface="Arial"/>
              </a:rPr>
              <a:t>Como adotar sem gerar rejeição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96112" y="1691640"/>
            <a:ext cx="10515600" cy="4297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•  Um serviço, um gate. Comece pelo domínio de maior risco. Mutation score em ratchet (nunca cair), sem meta absoluta.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•  Visível na PR. Sobreviventes como comentário de review — a conversa acontece ali.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•  Pareie na primeira leva de properties. Descobrir invariantes é a habilidade nova.</a:t>
            </a:r>
          </a:p>
          <a:p>
            <a:pPr algn="l">
              <a:spcAft>
                <a:spcPts val="1200"/>
              </a:spcAft>
            </a:pPr>
            <a:r>
              <a:rPr sz="2100" b="0" i="0">
                <a:solidFill>
                  <a:srgbClr val="F1F1EF"/>
                </a:solidFill>
                <a:latin typeface="Arial"/>
              </a:rPr>
              <a:t>•  Incremental em CI desde o dia 1; full run noturno.</a:t>
            </a:r>
          </a:p>
          <a:p>
            <a:pPr algn="l">
              <a:spcAft>
                <a:spcPts val="1200"/>
              </a:spcAft>
            </a:pPr>
            <a:r>
              <a:rPr sz="2600" b="1" i="0">
                <a:solidFill>
                  <a:srgbClr val="F1F1EF"/>
                </a:solidFill>
                <a:latin typeface="Arial"/>
              </a:rPr>
              <a:t>O SDET deixa de escrever teste e passa a projetar os gates.</a:t>
            </a:r>
          </a:p>
        </p:txBody>
      </p:sp>
      <p:pic>
        <p:nvPicPr>
          <p:cNvPr id="6" name="Picture 1" descr="logo.png">
            <a:extLst>
              <a:ext uri="{FF2B5EF4-FFF2-40B4-BE49-F238E27FC236}">
                <a16:creationId xmlns:a16="http://schemas.microsoft.com/office/drawing/2014/main" id="{FEEFF2BB-AC8D-D466-89EC-E5FD75ADD9A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85535" y="6291072"/>
            <a:ext cx="420624" cy="420624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22960" y="3125792"/>
            <a:ext cx="10515600" cy="1246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 dirty="0" err="1">
                <a:solidFill>
                  <a:srgbClr val="F1F1EF"/>
                </a:solidFill>
                <a:latin typeface="Arial"/>
              </a:rPr>
              <a:t>Obrigada</a:t>
            </a:r>
            <a:r>
              <a:rPr sz="4000" b="1" i="0" dirty="0">
                <a:solidFill>
                  <a:srgbClr val="F1F1EF"/>
                </a:solidFill>
                <a:latin typeface="Arial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000" b="0" i="0" dirty="0">
                <a:solidFill>
                  <a:srgbClr val="9AA2AD"/>
                </a:solidFill>
                <a:latin typeface="Arial"/>
              </a:rPr>
              <a:t>A IA move a </a:t>
            </a:r>
            <a:r>
              <a:rPr sz="2000" b="0" i="0" dirty="0" err="1">
                <a:solidFill>
                  <a:srgbClr val="9AA2AD"/>
                </a:solidFill>
                <a:latin typeface="Arial"/>
              </a:rPr>
              <a:t>métrica</a:t>
            </a:r>
            <a:r>
              <a:rPr sz="2000" b="0" i="0" dirty="0">
                <a:solidFill>
                  <a:srgbClr val="9AA2AD"/>
                </a:solidFill>
                <a:latin typeface="Arial"/>
              </a:rPr>
              <a:t> de </a:t>
            </a:r>
            <a:r>
              <a:rPr sz="2000" b="0" i="0" dirty="0" err="1">
                <a:solidFill>
                  <a:srgbClr val="9AA2AD"/>
                </a:solidFill>
                <a:latin typeface="Arial"/>
              </a:rPr>
              <a:t>cobertura</a:t>
            </a:r>
            <a:r>
              <a:rPr sz="2000" b="0" i="0" dirty="0">
                <a:solidFill>
                  <a:srgbClr val="9AA2AD"/>
                </a:solidFill>
                <a:latin typeface="Arial"/>
              </a:rPr>
              <a:t>. Estes gates </a:t>
            </a:r>
            <a:r>
              <a:rPr sz="2000" b="0" i="0" dirty="0" err="1">
                <a:solidFill>
                  <a:srgbClr val="9AA2AD"/>
                </a:solidFill>
                <a:latin typeface="Arial"/>
              </a:rPr>
              <a:t>movem</a:t>
            </a:r>
            <a:r>
              <a:rPr sz="2000" b="0" i="0" dirty="0">
                <a:solidFill>
                  <a:srgbClr val="9AA2AD"/>
                </a:solidFill>
                <a:latin typeface="Arial"/>
              </a:rPr>
              <a:t> a </a:t>
            </a:r>
            <a:r>
              <a:rPr lang="pt-BR" sz="2000" b="0" i="0" dirty="0">
                <a:solidFill>
                  <a:srgbClr val="9AA2AD"/>
                </a:solidFill>
                <a:latin typeface="Arial"/>
              </a:rPr>
              <a:t>métrica </a:t>
            </a:r>
            <a:r>
              <a:rPr sz="2000" b="0" i="0" dirty="0">
                <a:solidFill>
                  <a:srgbClr val="9AA2AD"/>
                </a:solidFill>
                <a:latin typeface="Arial"/>
              </a:rPr>
              <a:t>de </a:t>
            </a:r>
            <a:r>
              <a:rPr sz="2000" b="0" i="0" dirty="0" err="1">
                <a:solidFill>
                  <a:srgbClr val="9AA2AD"/>
                </a:solidFill>
                <a:latin typeface="Arial"/>
              </a:rPr>
              <a:t>defeito</a:t>
            </a:r>
            <a:r>
              <a:rPr sz="2000" b="0" i="0" dirty="0">
                <a:solidFill>
                  <a:srgbClr val="9AA2A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9AA2AD"/>
                </a:solidFill>
                <a:latin typeface="Arial"/>
              </a:rPr>
              <a:t>que</a:t>
            </a:r>
            <a:r>
              <a:rPr sz="2000" b="0" i="0" dirty="0">
                <a:solidFill>
                  <a:srgbClr val="9AA2AD"/>
                </a:solidFill>
                <a:latin typeface="Arial"/>
              </a:rPr>
              <a:t> </a:t>
            </a:r>
            <a:r>
              <a:rPr sz="2000" b="0" i="0" dirty="0" err="1">
                <a:solidFill>
                  <a:srgbClr val="9AA2AD"/>
                </a:solidFill>
                <a:latin typeface="Arial"/>
              </a:rPr>
              <a:t>escapa</a:t>
            </a:r>
            <a:r>
              <a:rPr sz="2000" b="0" i="0" dirty="0">
                <a:solidFill>
                  <a:srgbClr val="9AA2AD"/>
                </a:solidFill>
                <a:latin typeface="Arial"/>
              </a:rPr>
              <a:t>.</a:t>
            </a:r>
          </a:p>
        </p:txBody>
      </p:sp>
      <p:pic>
        <p:nvPicPr>
          <p:cNvPr id="4" name="Picture 1" descr="logo.png">
            <a:extLst>
              <a:ext uri="{FF2B5EF4-FFF2-40B4-BE49-F238E27FC236}">
                <a16:creationId xmlns:a16="http://schemas.microsoft.com/office/drawing/2014/main" id="{080FF852-CC82-5909-7EA8-B795342BC59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14161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Me.jpg"/>
          <p:cNvPicPr>
            <a:picLocks noChangeAspect="1"/>
          </p:cNvPicPr>
          <p:nvPr/>
        </p:nvPicPr>
        <p:blipFill>
          <a:blip r:embed="rId3"/>
          <a:srcRect t="12500" b="12500"/>
          <a:stretch>
            <a:fillRect/>
          </a:stretch>
        </p:blipFill>
        <p:spPr>
          <a:xfrm>
            <a:off x="822960" y="2397118"/>
            <a:ext cx="3017520" cy="3017520"/>
          </a:xfrm>
          <a:prstGeom prst="rect">
            <a:avLst/>
          </a:prstGeom>
        </p:spPr>
      </p:pic>
      <p:sp>
        <p:nvSpPr>
          <p:cNvPr id="4" name="Rectangle 3"/>
          <p:cNvSpPr/>
          <p:nvPr/>
        </p:nvSpPr>
        <p:spPr>
          <a:xfrm>
            <a:off x="822960" y="2397118"/>
            <a:ext cx="3017520" cy="3017520"/>
          </a:xfrm>
          <a:prstGeom prst="rect">
            <a:avLst/>
          </a:prstGeom>
          <a:noFill/>
          <a:ln w="38100">
            <a:solidFill>
              <a:srgbClr val="C98BE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TextBox 4"/>
          <p:cNvSpPr txBox="1"/>
          <p:nvPr/>
        </p:nvSpPr>
        <p:spPr>
          <a:xfrm>
            <a:off x="4206240" y="2945758"/>
            <a:ext cx="4572000" cy="27432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400"/>
              </a:spcAft>
            </a:pPr>
            <a:r>
              <a:rPr sz="4000" b="1" i="0">
                <a:solidFill>
                  <a:srgbClr val="F1F1EF"/>
                </a:solidFill>
                <a:latin typeface="Arial"/>
              </a:rPr>
              <a:t>Dani Cavalcanti</a:t>
            </a:r>
          </a:p>
          <a:p>
            <a:pPr algn="l">
              <a:spcAft>
                <a:spcPts val="400"/>
              </a:spcAft>
            </a:pPr>
            <a:r>
              <a:rPr sz="2200" b="1" i="0">
                <a:solidFill>
                  <a:srgbClr val="5EEAD4"/>
                </a:solidFill>
                <a:latin typeface="Arial"/>
              </a:rPr>
              <a:t>Senior SDET</a:t>
            </a:r>
          </a:p>
          <a:p>
            <a:pPr algn="l">
              <a:spcAft>
                <a:spcPts val="0"/>
              </a:spcAft>
            </a:pPr>
            <a:r>
              <a:rPr sz="2000" b="0" i="0">
                <a:solidFill>
                  <a:srgbClr val="F1F1EF"/>
                </a:solidFill>
                <a:latin typeface="Arial"/>
              </a:rPr>
              <a:t>Especialista em Agentes de I.A. para Qualidade de Software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81160" y="2808598"/>
            <a:ext cx="2148840" cy="2148840"/>
          </a:xfrm>
          <a:prstGeom prst="round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pic>
        <p:nvPicPr>
          <p:cNvPr id="7" name="Picture 6" descr="danicavalcanti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436608" y="2964046"/>
            <a:ext cx="1828800" cy="18288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9144000" y="5014153"/>
            <a:ext cx="2468880" cy="3657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spcAft>
                <a:spcPts val="0"/>
              </a:spcAft>
            </a:pPr>
            <a:r>
              <a:rPr sz="1300" b="0" i="0">
                <a:solidFill>
                  <a:srgbClr val="9AA2AD"/>
                </a:solidFill>
                <a:latin typeface="Arial"/>
              </a:rPr>
              <a:t>aponte a câmera</a:t>
            </a:r>
          </a:p>
        </p:txBody>
      </p:sp>
      <p:pic>
        <p:nvPicPr>
          <p:cNvPr id="9" name="Picture 1" descr="logo.png">
            <a:extLst>
              <a:ext uri="{FF2B5EF4-FFF2-40B4-BE49-F238E27FC236}">
                <a16:creationId xmlns:a16="http://schemas.microsoft.com/office/drawing/2014/main" id="{06C81197-488D-01DC-09DA-D5512BE0CCE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577840" y="5820950"/>
            <a:ext cx="1036320" cy="1037050"/>
          </a:xfrm>
          <a:prstGeom prst="rect">
            <a:avLst/>
          </a:prstGeom>
        </p:spPr>
      </p:pic>
      <p:sp>
        <p:nvSpPr>
          <p:cNvPr id="10" name="TextBox 2">
            <a:extLst>
              <a:ext uri="{FF2B5EF4-FFF2-40B4-BE49-F238E27FC236}">
                <a16:creationId xmlns:a16="http://schemas.microsoft.com/office/drawing/2014/main" id="{F34C2555-C7BE-7AB6-2E5E-9F1E0F59E1E9}"/>
              </a:ext>
            </a:extLst>
          </p:cNvPr>
          <p:cNvSpPr txBox="1"/>
          <p:nvPr/>
        </p:nvSpPr>
        <p:spPr>
          <a:xfrm>
            <a:off x="822960" y="452037"/>
            <a:ext cx="10515600" cy="1246495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>
              <a:spcAft>
                <a:spcPts val="1800"/>
              </a:spcAft>
            </a:pPr>
            <a:r>
              <a:rPr sz="4000" b="1" i="0" dirty="0" err="1">
                <a:solidFill>
                  <a:srgbClr val="F1F1EF"/>
                </a:solidFill>
                <a:latin typeface="Arial"/>
              </a:rPr>
              <a:t>Obrigada</a:t>
            </a:r>
            <a:r>
              <a:rPr sz="4000" b="1" i="0" dirty="0">
                <a:solidFill>
                  <a:srgbClr val="F1F1EF"/>
                </a:solidFill>
                <a:latin typeface="Arial"/>
              </a:rPr>
              <a:t>.</a:t>
            </a:r>
          </a:p>
          <a:p>
            <a:pPr algn="l">
              <a:spcAft>
                <a:spcPts val="1000"/>
              </a:spcAft>
            </a:pPr>
            <a:r>
              <a:rPr sz="2000" b="0" i="1" dirty="0">
                <a:solidFill>
                  <a:srgbClr val="9AA2AD"/>
                </a:solidFill>
                <a:latin typeface="Arial"/>
              </a:rPr>
              <a:t>A IA move a </a:t>
            </a:r>
            <a:r>
              <a:rPr sz="2000" b="0" i="1" dirty="0" err="1">
                <a:solidFill>
                  <a:srgbClr val="9AA2AD"/>
                </a:solidFill>
                <a:latin typeface="Arial"/>
              </a:rPr>
              <a:t>métrica</a:t>
            </a:r>
            <a:r>
              <a:rPr sz="2000" b="0" i="1" dirty="0">
                <a:solidFill>
                  <a:srgbClr val="9AA2AD"/>
                </a:solidFill>
                <a:latin typeface="Arial"/>
              </a:rPr>
              <a:t> de </a:t>
            </a:r>
            <a:r>
              <a:rPr sz="2000" b="0" i="1" dirty="0" err="1">
                <a:solidFill>
                  <a:srgbClr val="9AA2AD"/>
                </a:solidFill>
                <a:latin typeface="Arial"/>
              </a:rPr>
              <a:t>cobertura</a:t>
            </a:r>
            <a:r>
              <a:rPr sz="2000" b="0" i="1" dirty="0">
                <a:solidFill>
                  <a:srgbClr val="9AA2AD"/>
                </a:solidFill>
                <a:latin typeface="Arial"/>
              </a:rPr>
              <a:t>. Estes gates </a:t>
            </a:r>
            <a:r>
              <a:rPr sz="2000" b="0" i="1" dirty="0" err="1">
                <a:solidFill>
                  <a:srgbClr val="9AA2AD"/>
                </a:solidFill>
                <a:latin typeface="Arial"/>
              </a:rPr>
              <a:t>movem</a:t>
            </a:r>
            <a:r>
              <a:rPr sz="2000" b="0" i="1" dirty="0">
                <a:solidFill>
                  <a:srgbClr val="9AA2AD"/>
                </a:solidFill>
                <a:latin typeface="Arial"/>
              </a:rPr>
              <a:t> a </a:t>
            </a:r>
            <a:r>
              <a:rPr lang="pt-BR" sz="2000" b="0" i="1" dirty="0">
                <a:solidFill>
                  <a:srgbClr val="9AA2AD"/>
                </a:solidFill>
                <a:latin typeface="Arial"/>
              </a:rPr>
              <a:t>métrica </a:t>
            </a:r>
            <a:r>
              <a:rPr sz="2000" b="0" i="1" dirty="0">
                <a:solidFill>
                  <a:srgbClr val="9AA2AD"/>
                </a:solidFill>
                <a:latin typeface="Arial"/>
              </a:rPr>
              <a:t>de </a:t>
            </a:r>
            <a:r>
              <a:rPr sz="2000" b="0" i="1" dirty="0" err="1">
                <a:solidFill>
                  <a:srgbClr val="9AA2AD"/>
                </a:solidFill>
                <a:latin typeface="Arial"/>
              </a:rPr>
              <a:t>defeito</a:t>
            </a:r>
            <a:r>
              <a:rPr sz="2000" b="0" i="1" dirty="0">
                <a:solidFill>
                  <a:srgbClr val="9AA2AD"/>
                </a:solidFill>
                <a:latin typeface="Arial"/>
              </a:rPr>
              <a:t> </a:t>
            </a:r>
            <a:r>
              <a:rPr sz="2000" b="0" i="1" dirty="0" err="1">
                <a:solidFill>
                  <a:srgbClr val="9AA2AD"/>
                </a:solidFill>
                <a:latin typeface="Arial"/>
              </a:rPr>
              <a:t>que</a:t>
            </a:r>
            <a:r>
              <a:rPr sz="2000" b="0" i="1" dirty="0">
                <a:solidFill>
                  <a:srgbClr val="9AA2AD"/>
                </a:solidFill>
                <a:latin typeface="Arial"/>
              </a:rPr>
              <a:t> </a:t>
            </a:r>
            <a:r>
              <a:rPr sz="2000" b="0" i="1" dirty="0" err="1">
                <a:solidFill>
                  <a:srgbClr val="9AA2AD"/>
                </a:solidFill>
                <a:latin typeface="Arial"/>
              </a:rPr>
              <a:t>escapa</a:t>
            </a:r>
            <a:r>
              <a:rPr sz="2000" b="0" i="1" dirty="0">
                <a:solidFill>
                  <a:srgbClr val="9AA2AD"/>
                </a:solidFill>
                <a:latin typeface="Arial"/>
              </a:rPr>
              <a:t>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ema do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</TotalTime>
  <Words>2247</Words>
  <Application>Microsoft Macintosh PowerPoint</Application>
  <PresentationFormat>Widescreen</PresentationFormat>
  <Paragraphs>172</Paragraphs>
  <Slides>26</Slides>
  <Notes>12</Notes>
  <HiddenSlides>0</HiddenSlides>
  <MMClips>0</MMClips>
  <ScaleCrop>false</ScaleCrop>
  <HeadingPairs>
    <vt:vector size="6" baseType="variant">
      <vt:variant>
        <vt:lpstr>Fontes usadas</vt:lpstr>
      </vt:variant>
      <vt:variant>
        <vt:i4>3</vt:i4>
      </vt:variant>
      <vt:variant>
        <vt:lpstr>Tema</vt:lpstr>
      </vt:variant>
      <vt:variant>
        <vt:i4>1</vt:i4>
      </vt:variant>
      <vt:variant>
        <vt:lpstr>Títulos de slides</vt:lpstr>
      </vt:variant>
      <vt:variant>
        <vt:i4>26</vt:i4>
      </vt:variant>
    </vt:vector>
  </HeadingPairs>
  <TitlesOfParts>
    <vt:vector size="30" baseType="lpstr">
      <vt:lpstr>Arial</vt:lpstr>
      <vt:lpstr>Calibri</vt:lpstr>
      <vt:lpstr>Courier New</vt:lpstr>
      <vt:lpstr>Office Theme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  <vt:lpstr>Apresentação do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Barreiras de Qualidade Avançadas em CI/CD acelerado por IA</dc:title>
  <dc:subject/>
  <dc:creator>Dani Cavalcanti</dc:creator>
  <cp:keywords/>
  <dc:description/>
  <cp:lastModifiedBy>Dani Cavalcanti</cp:lastModifiedBy>
  <cp:revision>3</cp:revision>
  <dcterms:created xsi:type="dcterms:W3CDTF">2013-01-27T09:14:16Z</dcterms:created>
  <dcterms:modified xsi:type="dcterms:W3CDTF">2026-09-23T03:11:58Z</dcterms:modified>
  <cp:category/>
</cp:coreProperties>
</file>